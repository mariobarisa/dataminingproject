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733930" rtl="0" fontAlgn="auto" latinLnBrk="0" hangingPunct="0">
      <a:lnSpc>
        <a:spcPct val="90000"/>
      </a:lnSpc>
      <a:spcBef>
        <a:spcPts val="320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254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254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Naslov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r i datum"/>
          <p:cNvSpPr txBox="1"/>
          <p:nvPr>
            <p:ph type="body" sz="quarter" idx="21" hasCustomPrompt="1"/>
          </p:nvPr>
        </p:nvSpPr>
        <p:spPr>
          <a:xfrm>
            <a:off x="698500" y="8657488"/>
            <a:ext cx="11607801" cy="461060"/>
          </a:xfrm>
          <a:prstGeom prst="rect">
            <a:avLst/>
          </a:prstGeom>
        </p:spPr>
        <p:txBody>
          <a:bodyPr anchor="b"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>
                <a:solidFill>
                  <a:srgbClr val="FFFFFF"/>
                </a:solidFill>
              </a:defRPr>
            </a:lvl1pPr>
          </a:lstStyle>
          <a:p>
            <a:pPr/>
            <a:r>
              <a:t>Autor i datum</a:t>
            </a:r>
          </a:p>
        </p:txBody>
      </p:sp>
      <p:sp>
        <p:nvSpPr>
          <p:cNvPr id="12" name="Naslov prezentacije"/>
          <p:cNvSpPr txBox="1"/>
          <p:nvPr>
            <p:ph type="title" hasCustomPrompt="1"/>
          </p:nvPr>
        </p:nvSpPr>
        <p:spPr>
          <a:xfrm>
            <a:off x="698500" y="1854200"/>
            <a:ext cx="11609057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solidFill>
                  <a:srgbClr val="FFFFFF"/>
                </a:solidFill>
              </a:defRPr>
            </a:lvl1pPr>
          </a:lstStyle>
          <a:p>
            <a:pPr/>
            <a:r>
              <a:t>Naslov prezentacije</a:t>
            </a:r>
          </a:p>
        </p:txBody>
      </p:sp>
      <p:sp>
        <p:nvSpPr>
          <p:cNvPr id="13" name="Tijelo razine jedan…"/>
          <p:cNvSpPr txBox="1"/>
          <p:nvPr>
            <p:ph type="body" sz="quarter" idx="1" hasCustomPrompt="1"/>
          </p:nvPr>
        </p:nvSpPr>
        <p:spPr>
          <a:xfrm>
            <a:off x="698500" y="5105400"/>
            <a:ext cx="11607800" cy="145639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chemeClr val="accent1"/>
                </a:solidFill>
              </a:defRPr>
            </a:lvl5pPr>
          </a:lstStyle>
          <a:p>
            <a:pPr/>
            <a:r>
              <a:t>Podnaslov prezentacije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Broj slajda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 i 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rh balona na vrući zrak gledan od iznad i izbliza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Naslov prezentacije"/>
          <p:cNvSpPr txBox="1"/>
          <p:nvPr>
            <p:ph type="title" hasCustomPrompt="1"/>
          </p:nvPr>
        </p:nvSpPr>
        <p:spPr>
          <a:xfrm>
            <a:off x="698500" y="5181600"/>
            <a:ext cx="11607800" cy="3302000"/>
          </a:xfrm>
          <a:prstGeom prst="rect">
            <a:avLst/>
          </a:prstGeom>
        </p:spPr>
        <p:txBody>
          <a:bodyPr anchor="b"/>
          <a:lstStyle>
            <a:lvl1pPr>
              <a:defRPr spc="-164" sz="8200">
                <a:solidFill>
                  <a:srgbClr val="FFFFFF"/>
                </a:solidFill>
              </a:defRPr>
            </a:lvl1pPr>
          </a:lstStyle>
          <a:p>
            <a:pPr/>
            <a:r>
              <a:t>Naslov prezentacije</a:t>
            </a:r>
          </a:p>
        </p:txBody>
      </p:sp>
      <p:sp>
        <p:nvSpPr>
          <p:cNvPr id="23" name="Tijelo razine jedan…"/>
          <p:cNvSpPr txBox="1"/>
          <p:nvPr>
            <p:ph type="body" sz="quarter" idx="1" hasCustomPrompt="1"/>
          </p:nvPr>
        </p:nvSpPr>
        <p:spPr>
          <a:xfrm>
            <a:off x="698500" y="8432800"/>
            <a:ext cx="11607800" cy="689769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>
                <a:solidFill>
                  <a:srgbClr val="FFFFFF"/>
                </a:solidFill>
              </a:defRPr>
            </a:lvl5pPr>
          </a:lstStyle>
          <a:p>
            <a:pPr/>
            <a:r>
              <a:t>Podnaslov prezentacije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or i datum"/>
          <p:cNvSpPr txBox="1"/>
          <p:nvPr>
            <p:ph type="body" sz="quarter" idx="22" hasCustomPrompt="1"/>
          </p:nvPr>
        </p:nvSpPr>
        <p:spPr>
          <a:xfrm>
            <a:off x="698500" y="571500"/>
            <a:ext cx="11607801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Autor i datum</a:t>
            </a:r>
          </a:p>
        </p:txBody>
      </p:sp>
      <p:sp>
        <p:nvSpPr>
          <p:cNvPr id="25" name="Broj slajda"/>
          <p:cNvSpPr txBox="1"/>
          <p:nvPr>
            <p:ph type="sldNum" sz="quarter" idx="2"/>
          </p:nvPr>
        </p:nvSpPr>
        <p:spPr>
          <a:xfrm>
            <a:off x="6349999" y="9220199"/>
            <a:ext cx="297893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lternativni naslov i 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lon na vrući zrak gledan od ispod i izbliza"/>
          <p:cNvSpPr/>
          <p:nvPr>
            <p:ph type="pic" idx="21"/>
          </p:nvPr>
        </p:nvSpPr>
        <p:spPr>
          <a:xfrm>
            <a:off x="4546600" y="692534"/>
            <a:ext cx="12591254" cy="836251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Tijelo razine jedan…"/>
          <p:cNvSpPr txBox="1"/>
          <p:nvPr>
            <p:ph type="body" sz="quarter" idx="1" hasCustomPrompt="1"/>
          </p:nvPr>
        </p:nvSpPr>
        <p:spPr>
          <a:xfrm>
            <a:off x="698500" y="5003800"/>
            <a:ext cx="5105400" cy="4044566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  <a:lvl2pPr marL="0" indent="4572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2pPr>
            <a:lvl3pPr marL="0" indent="9144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3pPr>
            <a:lvl4pPr marL="0" indent="13716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4pPr>
            <a:lvl5pPr marL="0" indent="182880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5pPr>
          </a:lstStyle>
          <a:p>
            <a:pPr/>
            <a:r>
              <a:t>Podnaslov slajda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Naslov slajda"/>
          <p:cNvSpPr txBox="1"/>
          <p:nvPr>
            <p:ph type="title" hasCustomPrompt="1"/>
          </p:nvPr>
        </p:nvSpPr>
        <p:spPr>
          <a:xfrm>
            <a:off x="698500" y="692534"/>
            <a:ext cx="5105400" cy="4387466"/>
          </a:xfrm>
          <a:prstGeom prst="rect">
            <a:avLst/>
          </a:prstGeom>
        </p:spPr>
        <p:txBody>
          <a:bodyPr anchor="b"/>
          <a:lstStyle/>
          <a:p>
            <a:pPr/>
            <a:r>
              <a:t>Naslov slajda</a:t>
            </a:r>
          </a:p>
        </p:txBody>
      </p:sp>
      <p:sp>
        <p:nvSpPr>
          <p:cNvPr id="35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 i predzna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jelo razine jeda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3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44" name="Naslov slajd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45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edzna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jelo razine jeda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589358"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, predznaci i 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aloni na vrući zrak gledani od ispod, s plavim nebom u pozadini"/>
          <p:cNvSpPr/>
          <p:nvPr>
            <p:ph type="pic" idx="21"/>
          </p:nvPr>
        </p:nvSpPr>
        <p:spPr>
          <a:xfrm>
            <a:off x="3797300" y="698500"/>
            <a:ext cx="12585470" cy="8356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Naslov slajda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62" name="Podnaslov slajda"/>
          <p:cNvSpPr txBox="1"/>
          <p:nvPr>
            <p:ph type="body" sz="quarter" idx="22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63" name="Tijelo razine jedan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, predznaci i mali videoz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Naslov slajda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72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73" name="Tijelo razine jedan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slov, predznaci i veliki videoza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Naslov slajda"/>
          <p:cNvSpPr txBox="1"/>
          <p:nvPr>
            <p:ph type="title" hasCustomPrompt="1"/>
          </p:nvPr>
        </p:nvSpPr>
        <p:spPr>
          <a:xfrm>
            <a:off x="698500" y="444500"/>
            <a:ext cx="51054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82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5105400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83" name="Tijelo razine jedan…"/>
          <p:cNvSpPr txBox="1"/>
          <p:nvPr>
            <p:ph type="body" sz="half" idx="1" hasCustomPrompt="1"/>
          </p:nvPr>
        </p:nvSpPr>
        <p:spPr>
          <a:xfrm>
            <a:off x="698500" y="3480196"/>
            <a:ext cx="5105400" cy="5593161"/>
          </a:xfrm>
          <a:prstGeom prst="rect">
            <a:avLst/>
          </a:prstGeom>
        </p:spPr>
        <p:txBody>
          <a:bodyPr/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djeljak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Naslov odjeljka"/>
          <p:cNvSpPr txBox="1"/>
          <p:nvPr>
            <p:ph type="title" hasCustomPrompt="1"/>
          </p:nvPr>
        </p:nvSpPr>
        <p:spPr>
          <a:xfrm>
            <a:off x="698500" y="3225800"/>
            <a:ext cx="11607800" cy="3302000"/>
          </a:xfrm>
          <a:prstGeom prst="rect">
            <a:avLst/>
          </a:prstGeom>
        </p:spPr>
        <p:txBody>
          <a:bodyPr anchor="ctr"/>
          <a:lstStyle>
            <a:lvl1pPr>
              <a:defRPr b="0" spc="-164" sz="8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Naslov odjeljka</a:t>
            </a:r>
          </a:p>
        </p:txBody>
      </p:sp>
      <p:sp>
        <p:nvSpPr>
          <p:cNvPr id="92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Naslov slajda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Naslov slajda</a:t>
            </a:r>
          </a:p>
        </p:txBody>
      </p:sp>
      <p:sp>
        <p:nvSpPr>
          <p:cNvPr id="100" name="Podnaslov slajda"/>
          <p:cNvSpPr txBox="1"/>
          <p:nvPr>
            <p:ph type="body" sz="quarter" idx="21" hasCustomPrompt="1"/>
          </p:nvPr>
        </p:nvSpPr>
        <p:spPr>
          <a:xfrm>
            <a:off x="698500" y="1412977"/>
            <a:ext cx="11607801" cy="671803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slajda</a:t>
            </a:r>
          </a:p>
        </p:txBody>
      </p:sp>
      <p:sp>
        <p:nvSpPr>
          <p:cNvPr id="101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nevni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Naslov dnevnog reda"/>
          <p:cNvSpPr txBox="1"/>
          <p:nvPr>
            <p:ph type="title" hasCustomPrompt="1"/>
          </p:nvPr>
        </p:nvSpPr>
        <p:spPr>
          <a:xfrm>
            <a:off x="698500" y="444500"/>
            <a:ext cx="11607800" cy="1016000"/>
          </a:xfrm>
          <a:prstGeom prst="rect">
            <a:avLst/>
          </a:prstGeom>
        </p:spPr>
        <p:txBody>
          <a:bodyPr/>
          <a:lstStyle/>
          <a:p>
            <a:pPr/>
            <a:r>
              <a:t>Naslov dnevnog reda</a:t>
            </a:r>
          </a:p>
        </p:txBody>
      </p:sp>
      <p:sp>
        <p:nvSpPr>
          <p:cNvPr id="109" name="Podnaslov dnevnog reda"/>
          <p:cNvSpPr txBox="1"/>
          <p:nvPr>
            <p:ph type="body" sz="quarter" idx="21" hasCustomPrompt="1"/>
          </p:nvPr>
        </p:nvSpPr>
        <p:spPr>
          <a:xfrm>
            <a:off x="698500" y="1409700"/>
            <a:ext cx="11607801" cy="671802"/>
          </a:xfrm>
          <a:prstGeom prst="rect">
            <a:avLst/>
          </a:prstGeom>
        </p:spPr>
        <p:txBody>
          <a:bodyPr/>
          <a:lstStyle>
            <a:lvl1pPr marL="0" indent="0" defTabSz="587022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Podnaslov dnevnog reda</a:t>
            </a:r>
          </a:p>
        </p:txBody>
      </p:sp>
      <p:sp>
        <p:nvSpPr>
          <p:cNvPr id="110" name="Tijelo razine jedan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1300"/>
              </a:spcBef>
              <a:buSzTx/>
              <a:buNone/>
              <a:defRPr spc="-38" sz="3800"/>
            </a:lvl1pPr>
            <a:lvl2pPr marL="0" indent="457200">
              <a:spcBef>
                <a:spcPts val="1300"/>
              </a:spcBef>
              <a:buSzTx/>
              <a:buNone/>
              <a:defRPr spc="-38" sz="3800"/>
            </a:lvl2pPr>
            <a:lvl3pPr marL="0" indent="914400">
              <a:spcBef>
                <a:spcPts val="1300"/>
              </a:spcBef>
              <a:buSzTx/>
              <a:buNone/>
              <a:defRPr spc="-38" sz="3800"/>
            </a:lvl3pPr>
            <a:lvl4pPr marL="0" indent="1371600">
              <a:spcBef>
                <a:spcPts val="1300"/>
              </a:spcBef>
              <a:buSzTx/>
              <a:buNone/>
              <a:defRPr spc="-38" sz="3800"/>
            </a:lvl4pPr>
            <a:lvl5pPr marL="0" indent="1828800">
              <a:spcBef>
                <a:spcPts val="1300"/>
              </a:spcBef>
              <a:buSzTx/>
              <a:buNone/>
              <a:defRPr spc="-38" sz="3800"/>
            </a:lvl5pPr>
          </a:lstStyle>
          <a:p>
            <a:pPr/>
            <a:r>
              <a:t>Teme dnevnog reda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Iz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jelo razine jedan…"/>
          <p:cNvSpPr txBox="1"/>
          <p:nvPr>
            <p:ph type="body" sz="half" idx="1" hasCustomPrompt="1"/>
          </p:nvPr>
        </p:nvSpPr>
        <p:spPr>
          <a:xfrm>
            <a:off x="698500" y="3568700"/>
            <a:ext cx="11607800" cy="26177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164" sz="82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Izjava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ažna činje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Činjenične informacije"/>
          <p:cNvSpPr txBox="1"/>
          <p:nvPr>
            <p:ph type="body" sz="quarter" idx="21" hasCustomPrompt="1"/>
          </p:nvPr>
        </p:nvSpPr>
        <p:spPr>
          <a:xfrm>
            <a:off x="698500" y="6209979"/>
            <a:ext cx="11607800" cy="67180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b="1" sz="3800"/>
            </a:lvl1pPr>
          </a:lstStyle>
          <a:p>
            <a:pPr/>
            <a:r>
              <a:t>Činjenične informacije</a:t>
            </a:r>
          </a:p>
        </p:txBody>
      </p:sp>
      <p:sp>
        <p:nvSpPr>
          <p:cNvPr id="127" name="Tijelo razine jedan…"/>
          <p:cNvSpPr txBox="1"/>
          <p:nvPr>
            <p:ph type="body" idx="1" hasCustomPrompt="1"/>
          </p:nvPr>
        </p:nvSpPr>
        <p:spPr>
          <a:xfrm>
            <a:off x="698500" y="999066"/>
            <a:ext cx="11607800" cy="521091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176" sz="176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jelo razine jedan…"/>
          <p:cNvSpPr txBox="1"/>
          <p:nvPr>
            <p:ph type="body" sz="half" idx="1" hasCustomPrompt="1"/>
          </p:nvPr>
        </p:nvSpPr>
        <p:spPr>
          <a:xfrm>
            <a:off x="736600" y="3721100"/>
            <a:ext cx="11531600" cy="2324100"/>
          </a:xfrm>
          <a:prstGeom prst="rect">
            <a:avLst/>
          </a:prstGeom>
        </p:spPr>
        <p:txBody>
          <a:bodyPr anchor="ctr"/>
          <a:lstStyle>
            <a:lvl1pPr marL="457200" indent="-3429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57200" indent="1143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57200" indent="5715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57200" indent="10287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57200" indent="1485900">
              <a:spcBef>
                <a:spcPts val="0"/>
              </a:spcBef>
              <a:buSzTx/>
              <a:buNone/>
              <a:defRPr spc="-119" sz="60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“Istaknuti navodnici”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ribucija"/>
          <p:cNvSpPr txBox="1"/>
          <p:nvPr>
            <p:ph type="body" sz="quarter" idx="21" hasCustomPrompt="1"/>
          </p:nvPr>
        </p:nvSpPr>
        <p:spPr>
          <a:xfrm>
            <a:off x="1219200" y="6426200"/>
            <a:ext cx="11049000" cy="461059"/>
          </a:xfrm>
          <a:prstGeom prst="rect">
            <a:avLst/>
          </a:prstGeom>
        </p:spPr>
        <p:txBody>
          <a:bodyPr/>
          <a:lstStyle>
            <a:lvl1pPr marL="0" indent="0" defTabSz="563541">
              <a:lnSpc>
                <a:spcPct val="100000"/>
              </a:lnSpc>
              <a:spcBef>
                <a:spcPts val="0"/>
              </a:spcBef>
              <a:buSzTx/>
              <a:buNone/>
              <a:defRPr b="1" sz="2304"/>
            </a:lvl1pPr>
          </a:lstStyle>
          <a:p>
            <a:pPr/>
            <a:r>
              <a:t>Atribucija</a:t>
            </a:r>
          </a:p>
        </p:txBody>
      </p:sp>
      <p:sp>
        <p:nvSpPr>
          <p:cNvPr id="137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je (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aloni na vrući zrak gledani od ispod, s plavim nebom u pozadini"/>
          <p:cNvSpPr/>
          <p:nvPr>
            <p:ph type="pic" idx="21"/>
          </p:nvPr>
        </p:nvSpPr>
        <p:spPr>
          <a:xfrm>
            <a:off x="-3860800" y="701538"/>
            <a:ext cx="12539868" cy="83599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aloni na vrući zrak gledani od ispod, s plavim nebom u pozadini"/>
          <p:cNvSpPr/>
          <p:nvPr>
            <p:ph type="pic" sz="quarter" idx="22"/>
          </p:nvPr>
        </p:nvSpPr>
        <p:spPr>
          <a:xfrm>
            <a:off x="6534860" y="698500"/>
            <a:ext cx="5967580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rh balona na vrući zrak gledan od iznad i izbliza"/>
          <p:cNvSpPr/>
          <p:nvPr>
            <p:ph type="pic" sz="quarter" idx="23"/>
          </p:nvPr>
        </p:nvSpPr>
        <p:spPr>
          <a:xfrm>
            <a:off x="6546850" y="5099050"/>
            <a:ext cx="5943600" cy="3962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Fotografi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aloni na vrući zrak gledani od ispod, s plavim nebom u pozadini"/>
          <p:cNvSpPr/>
          <p:nvPr>
            <p:ph type="pic" idx="21"/>
          </p:nvPr>
        </p:nvSpPr>
        <p:spPr>
          <a:xfrm>
            <a:off x="-812800" y="0"/>
            <a:ext cx="146304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Broj slajda"/>
          <p:cNvSpPr txBox="1"/>
          <p:nvPr>
            <p:ph type="sldNum" sz="quarter" idx="2"/>
          </p:nvPr>
        </p:nvSpPr>
        <p:spPr>
          <a:xfrm>
            <a:off x="6353454" y="9220199"/>
            <a:ext cx="297892" cy="287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Broj slajd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elo razine jedan…"/>
          <p:cNvSpPr txBox="1"/>
          <p:nvPr>
            <p:ph type="body" idx="1" hasCustomPrompt="1"/>
          </p:nvPr>
        </p:nvSpPr>
        <p:spPr>
          <a:xfrm>
            <a:off x="698500" y="2959100"/>
            <a:ext cx="11607800" cy="609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Tekst predznaka na slajdu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Naslov slajda"/>
          <p:cNvSpPr txBox="1"/>
          <p:nvPr>
            <p:ph type="title" hasCustomPrompt="1"/>
          </p:nvPr>
        </p:nvSpPr>
        <p:spPr>
          <a:xfrm>
            <a:off x="698500" y="440266"/>
            <a:ext cx="11607800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Naslov slajda</a:t>
            </a:r>
          </a:p>
        </p:txBody>
      </p:sp>
      <p:sp>
        <p:nvSpPr>
          <p:cNvPr id="4" name="Broj slajda"/>
          <p:cNvSpPr txBox="1"/>
          <p:nvPr>
            <p:ph type="sldNum" sz="quarter" idx="2"/>
          </p:nvPr>
        </p:nvSpPr>
        <p:spPr>
          <a:xfrm>
            <a:off x="6350067" y="9220199"/>
            <a:ext cx="297892" cy="28747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3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73393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19" strike="noStrike" sz="60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381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762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143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1524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1905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2286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2667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3048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3429000" marR="0" indent="-381000" algn="l" defTabSz="1733930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3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Datamining projekt — FIPU / UNIPU 2025/2026 - Mario Bariš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Datamining projekt — FIPU / UNIPU 2025/2026 - Mario Bariša</a:t>
            </a:r>
          </a:p>
        </p:txBody>
      </p:sp>
      <p:sp>
        <p:nvSpPr>
          <p:cNvPr id="172" name="Analiza popularnosti glazbe na Spotifyu"/>
          <p:cNvSpPr txBox="1"/>
          <p:nvPr>
            <p:ph type="ctrTitle"/>
          </p:nvPr>
        </p:nvSpPr>
        <p:spPr>
          <a:xfrm>
            <a:off x="697871" y="1852810"/>
            <a:ext cx="11609058" cy="3302001"/>
          </a:xfrm>
          <a:prstGeom prst="rect">
            <a:avLst/>
          </a:prstGeom>
        </p:spPr>
        <p:txBody>
          <a:bodyPr/>
          <a:lstStyle/>
          <a:p>
            <a:pPr/>
            <a:r>
              <a:t>Analiza popularnosti glazbe na Spotifyu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ko je klijent? →  Studio d.o.o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b="1"/>
              <a:t>Tko je klijent?</a:t>
            </a:r>
            <a:r>
              <a:t> →  Studio d.o.o.</a:t>
            </a:r>
          </a:p>
          <a:p>
            <a:pPr>
              <a:lnSpc>
                <a:spcPct val="100000"/>
              </a:lnSpc>
            </a:pPr>
            <a:r>
              <a:rPr b="1"/>
              <a:t>Problem</a:t>
            </a:r>
            <a:r>
              <a:t>: Produkcijske odluke o produkciji pjesama donose se "na osjećaj” umjesto temelja na podacima</a:t>
            </a:r>
          </a:p>
          <a:p>
            <a:pPr>
              <a:lnSpc>
                <a:spcPct val="100000"/>
              </a:lnSpc>
            </a:pPr>
            <a:r>
              <a:rPr b="1"/>
              <a:t>Pitanje koje projekt pokušava odgovoriti:</a:t>
            </a:r>
            <a:r>
              <a:t> Koje audio karakteristike koreliraju s visokom popularnošću pjesme? Cilj je maksimizirati popularnost klijenta.</a:t>
            </a:r>
          </a:p>
          <a:p>
            <a:pPr>
              <a:lnSpc>
                <a:spcPct val="100000"/>
              </a:lnSpc>
            </a:pPr>
            <a:r>
              <a:rPr b="1"/>
              <a:t>Kratki opis dataseta</a:t>
            </a:r>
            <a:r>
              <a:t>: 114.000 Spotify pjesama, 114 žanrova, 18+ audio značajki po pjesmi, popularnost 0–100</a:t>
            </a:r>
          </a:p>
        </p:txBody>
      </p:sp>
      <p:sp>
        <p:nvSpPr>
          <p:cNvPr id="175" name="Kontekst problema"/>
          <p:cNvSpPr txBox="1"/>
          <p:nvPr>
            <p:ph type="title"/>
          </p:nvPr>
        </p:nvSpPr>
        <p:spPr>
          <a:xfrm>
            <a:off x="698500" y="831977"/>
            <a:ext cx="11607801" cy="1016001"/>
          </a:xfrm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Kontekst problema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Izvor: Hugging Face (https://huggingface.co/datasets/maharshipandya/spotify-tracks-dataset)…"/>
          <p:cNvSpPr txBox="1"/>
          <p:nvPr>
            <p:ph type="body" idx="1"/>
          </p:nvPr>
        </p:nvSpPr>
        <p:spPr>
          <a:xfrm>
            <a:off x="698500" y="2956892"/>
            <a:ext cx="11607801" cy="6096001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b="1"/>
              <a:t>Izvor</a:t>
            </a:r>
            <a:r>
              <a:t>: Hugging Face (</a:t>
            </a:r>
            <a:r>
              <a:rPr i="1" u="sng"/>
              <a:t>https://huggingface.co/datasets/maharshipandya/spotify-tracks-dataset</a:t>
            </a:r>
            <a:r>
              <a:t>)</a:t>
            </a:r>
          </a:p>
          <a:p>
            <a:pPr marL="380999" indent="-380999">
              <a:lnSpc>
                <a:spcPct val="100000"/>
              </a:lnSpc>
            </a:pPr>
            <a:r>
              <a:rPr b="1"/>
              <a:t>Glavni stupci za kasniju analizu</a:t>
            </a:r>
            <a:r>
              <a:t>: track_genre, popularity, danceability, energy, explicit</a:t>
            </a:r>
          </a:p>
          <a:p>
            <a:pPr>
              <a:lnSpc>
                <a:spcPct val="100000"/>
              </a:lnSpc>
            </a:pPr>
            <a:r>
              <a:rPr b="1"/>
              <a:t>Odmah uočeno: </a:t>
            </a:r>
            <a:r>
              <a:t>višestruki izvođači po pjesmi (; separator), duplikati po track_id (ista pjesma u više žanrova), rijetke null vrijednosti</a:t>
            </a:r>
          </a:p>
        </p:txBody>
      </p:sp>
      <p:sp>
        <p:nvSpPr>
          <p:cNvPr id="178" name="Dataset i prva istraživanja"/>
          <p:cNvSpPr txBox="1"/>
          <p:nvPr>
            <p:ph type="title"/>
          </p:nvPr>
        </p:nvSpPr>
        <p:spPr>
          <a:xfrm>
            <a:off x="698500" y="766692"/>
            <a:ext cx="11607800" cy="1016001"/>
          </a:xfrm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Dataset i prva istraživanja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Koraci čišćenja:…"/>
          <p:cNvSpPr txBox="1"/>
          <p:nvPr>
            <p:ph type="body" idx="1"/>
          </p:nvPr>
        </p:nvSpPr>
        <p:spPr>
          <a:xfrm>
            <a:off x="698499" y="2011037"/>
            <a:ext cx="11607801" cy="6495668"/>
          </a:xfrm>
          <a:prstGeom prst="rect">
            <a:avLst/>
          </a:prstGeom>
        </p:spPr>
        <p:txBody>
          <a:bodyPr/>
          <a:lstStyle/>
          <a:p>
            <a:pPr marL="293369" indent="-293369" defTabSz="1335126">
              <a:lnSpc>
                <a:spcPct val="100000"/>
              </a:lnSpc>
              <a:spcBef>
                <a:spcPts val="2600"/>
              </a:spcBef>
              <a:defRPr sz="2309"/>
            </a:pPr>
            <a:r>
              <a:rPr b="1"/>
              <a:t>Koraci čišćenja</a:t>
            </a:r>
            <a:r>
              <a:t>: </a:t>
            </a:r>
          </a:p>
          <a:p>
            <a:pPr lvl="5" marL="2464307" indent="-410718" defTabSz="1335126">
              <a:lnSpc>
                <a:spcPct val="100000"/>
              </a:lnSpc>
              <a:spcBef>
                <a:spcPts val="2600"/>
              </a:spcBef>
              <a:buSzPct val="100000"/>
              <a:buAutoNum type="arabicPeriod" startAt="1"/>
              <a:defRPr sz="2309"/>
            </a:pPr>
            <a:r>
              <a:rPr b="1"/>
              <a:t>drop</a:t>
            </a:r>
            <a:r>
              <a:t> unnamed stupaca</a:t>
            </a:r>
          </a:p>
          <a:p>
            <a:pPr lvl="5" marL="2464307" indent="-410718" defTabSz="1335126">
              <a:lnSpc>
                <a:spcPct val="100000"/>
              </a:lnSpc>
              <a:spcBef>
                <a:spcPts val="2600"/>
              </a:spcBef>
              <a:buSzPct val="100000"/>
              <a:buAutoNum type="arabicPeriod" startAt="1"/>
              <a:defRPr sz="2309"/>
            </a:pPr>
            <a:r>
              <a:rPr b="1"/>
              <a:t>normalizacija naziva</a:t>
            </a:r>
            <a:r>
              <a:t> stupaca</a:t>
            </a:r>
          </a:p>
          <a:p>
            <a:pPr lvl="5" marL="2464307" indent="-410718" defTabSz="1335126">
              <a:lnSpc>
                <a:spcPct val="100000"/>
              </a:lnSpc>
              <a:spcBef>
                <a:spcPts val="2600"/>
              </a:spcBef>
              <a:buSzPct val="100000"/>
              <a:buAutoNum type="arabicPeriod" startAt="1"/>
              <a:defRPr sz="2309"/>
            </a:pPr>
            <a:r>
              <a:rPr b="1"/>
              <a:t>explicit → bool</a:t>
            </a:r>
          </a:p>
          <a:p>
            <a:pPr lvl="5" marL="2464307" indent="-410718" defTabSz="1335126">
              <a:lnSpc>
                <a:spcPct val="100000"/>
              </a:lnSpc>
              <a:spcBef>
                <a:spcPts val="2600"/>
              </a:spcBef>
              <a:buSzPct val="100000"/>
              <a:buAutoNum type="arabicPeriod" startAt="1"/>
              <a:defRPr sz="2309"/>
            </a:pPr>
            <a:r>
              <a:rPr b="1"/>
              <a:t>klanjanje potpunih duplikata</a:t>
            </a:r>
            <a:r>
              <a:t> (ne i track_id duplikata)</a:t>
            </a:r>
          </a:p>
          <a:p>
            <a:pPr marL="293369" indent="-293369" defTabSz="1335126">
              <a:lnSpc>
                <a:spcPct val="100000"/>
              </a:lnSpc>
              <a:spcBef>
                <a:spcPts val="2600"/>
              </a:spcBef>
              <a:defRPr sz="2309"/>
            </a:pPr>
            <a:r>
              <a:rPr b="1"/>
              <a:t>Split dataseta</a:t>
            </a:r>
            <a:r>
              <a:t>: 80% za rad, 20% za ETL</a:t>
            </a:r>
          </a:p>
          <a:p>
            <a:pPr marL="293369" indent="-293369" defTabSz="1335126">
              <a:lnSpc>
                <a:spcPct val="100000"/>
              </a:lnSpc>
              <a:spcBef>
                <a:spcPts val="2600"/>
              </a:spcBef>
              <a:defRPr sz="2309"/>
            </a:pPr>
            <a:r>
              <a:rPr b="1"/>
              <a:t>Definiran ER model</a:t>
            </a:r>
            <a:r>
              <a:t> — entiteti PJESMA, IZVOĐAČ, ALBUM, ŽANR</a:t>
            </a:r>
          </a:p>
          <a:p>
            <a:pPr marL="293369" indent="-293369" defTabSz="1335126">
              <a:lnSpc>
                <a:spcPct val="100000"/>
              </a:lnSpc>
              <a:spcBef>
                <a:spcPts val="2600"/>
              </a:spcBef>
              <a:defRPr sz="2309"/>
            </a:pPr>
            <a:r>
              <a:rPr b="1"/>
              <a:t>Veze</a:t>
            </a:r>
            <a:r>
              <a:t>: </a:t>
            </a:r>
            <a:r>
              <a:rPr b="1"/>
              <a:t>Žanr 1:M Pjesma,</a:t>
            </a:r>
            <a:r>
              <a:t> </a:t>
            </a:r>
            <a:r>
              <a:rPr b="1"/>
              <a:t>Album 1:M Pjesma</a:t>
            </a:r>
            <a:r>
              <a:t>, </a:t>
            </a:r>
            <a:r>
              <a:rPr b="1"/>
              <a:t>Izvođač M:M Pjesma</a:t>
            </a:r>
            <a:r>
              <a:t> (razrješeno asocijativnom tablicom)</a:t>
            </a:r>
          </a:p>
          <a:p>
            <a:pPr marL="293369" indent="-293369" defTabSz="1335126">
              <a:lnSpc>
                <a:spcPct val="100000"/>
              </a:lnSpc>
              <a:spcBef>
                <a:spcPts val="2600"/>
              </a:spcBef>
              <a:defRPr sz="2309"/>
            </a:pPr>
            <a:r>
              <a:t>Uvoz u MySQL (studio_data baza)</a:t>
            </a:r>
          </a:p>
        </p:txBody>
      </p:sp>
      <p:sp>
        <p:nvSpPr>
          <p:cNvPr id="181" name="Čišćenje i relacijski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Čišćenje i relacijski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Balon na vrući zrak gledan od ispod i izbliza" descr="Balon na vrući zrak gledan od ispod i izbliza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296" r="0" b="296"/>
          <a:stretch>
            <a:fillRect/>
          </a:stretch>
        </p:blipFill>
        <p:spPr>
          <a:xfrm>
            <a:off x="6046787" y="63500"/>
            <a:ext cx="6657095" cy="9599712"/>
          </a:xfrm>
          <a:prstGeom prst="rect">
            <a:avLst/>
          </a:prstGeom>
        </p:spPr>
      </p:pic>
      <p:sp>
        <p:nvSpPr>
          <p:cNvPr id="184" name="ER dijagra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ER dijagram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Zašto Star Schema: analitički upiti, agregacije po dimenzijama…"/>
          <p:cNvSpPr txBox="1"/>
          <p:nvPr>
            <p:ph type="body" idx="1"/>
          </p:nvPr>
        </p:nvSpPr>
        <p:spPr>
          <a:xfrm>
            <a:off x="698500" y="2502104"/>
            <a:ext cx="11607800" cy="6096001"/>
          </a:xfrm>
          <a:prstGeom prst="rect">
            <a:avLst/>
          </a:prstGeom>
        </p:spPr>
        <p:txBody>
          <a:bodyPr/>
          <a:lstStyle/>
          <a:p>
            <a:pPr marL="316229" indent="-316229" defTabSz="1439161">
              <a:spcBef>
                <a:spcPts val="2600"/>
              </a:spcBef>
              <a:defRPr sz="2490"/>
            </a:pPr>
            <a:r>
              <a:rPr b="1"/>
              <a:t>Zašto Star Schema</a:t>
            </a:r>
            <a:r>
              <a:t>: analitički upiti, agregacije po dimenzijama</a:t>
            </a:r>
          </a:p>
          <a:p>
            <a:pPr marL="316229" indent="-316229" defTabSz="1439161">
              <a:spcBef>
                <a:spcPts val="2600"/>
              </a:spcBef>
              <a:defRPr sz="2490"/>
            </a:pPr>
            <a:r>
              <a:rPr b="1"/>
              <a:t>Fact tablica: star_fact_popularnost</a:t>
            </a:r>
            <a:r>
              <a:t> — mjere: popularity, duration_ms, explicit</a:t>
            </a:r>
          </a:p>
          <a:p>
            <a:pPr marL="316229" indent="-316229" defTabSz="1439161">
              <a:spcBef>
                <a:spcPts val="2600"/>
              </a:spcBef>
              <a:defRPr sz="2490"/>
            </a:pPr>
            <a:r>
              <a:rPr b="1"/>
              <a:t>Dimenzije</a:t>
            </a:r>
            <a:r>
              <a:t>:</a:t>
            </a:r>
          </a:p>
          <a:p>
            <a:pPr lvl="1" marL="885444" indent="-442722" defTabSz="1439161">
              <a:spcBef>
                <a:spcPts val="2600"/>
              </a:spcBef>
              <a:buSzPct val="100000"/>
              <a:buAutoNum type="arabicPeriod" startAt="1"/>
              <a:defRPr sz="2490"/>
            </a:pPr>
            <a:r>
              <a:rPr b="1"/>
              <a:t>star_dim_zanr</a:t>
            </a:r>
            <a:r>
              <a:t> — zanr_grupa (7 grupa: Pop, Urban/R&amp;B, Rock/Metal, Chill/Acoustic...)</a:t>
            </a:r>
          </a:p>
          <a:p>
            <a:pPr lvl="1" marL="885444" indent="-442722" defTabSz="1439161">
              <a:spcBef>
                <a:spcPts val="2600"/>
              </a:spcBef>
              <a:buSzPct val="100000"/>
              <a:buAutoNum type="arabicPeriod" startAt="1"/>
              <a:defRPr sz="2490"/>
            </a:pPr>
            <a:r>
              <a:rPr b="1"/>
              <a:t>star_dim_izvodjac</a:t>
            </a:r>
            <a:r>
              <a:t> —vremenska dimezija (valid_from, valid_to, is_current)</a:t>
            </a:r>
          </a:p>
          <a:p>
            <a:pPr lvl="1" marL="885444" indent="-442722" defTabSz="1439161">
              <a:spcBef>
                <a:spcPts val="2600"/>
              </a:spcBef>
              <a:buSzPct val="100000"/>
              <a:buAutoNum type="arabicPeriod" startAt="1"/>
              <a:defRPr sz="2490"/>
            </a:pPr>
            <a:r>
              <a:rPr b="1"/>
              <a:t>star_dim_album</a:t>
            </a:r>
            <a:r>
              <a:t> — velicina_albuma</a:t>
            </a:r>
          </a:p>
          <a:p>
            <a:pPr lvl="1" marL="885444" indent="-442722" defTabSz="1439161">
              <a:spcBef>
                <a:spcPts val="2600"/>
              </a:spcBef>
              <a:buSzPct val="100000"/>
              <a:buAutoNum type="arabicPeriod" startAt="1"/>
              <a:defRPr sz="2490"/>
            </a:pPr>
            <a:r>
              <a:rPr b="1"/>
              <a:t>star_dim_audio_catchy</a:t>
            </a:r>
            <a:r>
              <a:t> — danceability, valence, energy, liveness → izvedene kategorije</a:t>
            </a:r>
          </a:p>
          <a:p>
            <a:pPr lvl="1" marL="885444" indent="-442722" defTabSz="1439161">
              <a:spcBef>
                <a:spcPts val="2600"/>
              </a:spcBef>
              <a:buSzPct val="100000"/>
              <a:buAutoNum type="arabicPeriod" startAt="1"/>
              <a:defRPr sz="2490"/>
            </a:pPr>
            <a:r>
              <a:rPr b="1"/>
              <a:t>star_dim_audio_technical</a:t>
            </a:r>
            <a:r>
              <a:t> — loudness, tempo, key, mode, acousticness</a:t>
            </a:r>
          </a:p>
        </p:txBody>
      </p:sp>
      <p:sp>
        <p:nvSpPr>
          <p:cNvPr id="187" name="Pretvorba u dimenzijski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Pretvorba u dimenzijski model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tar Schem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Star Schema</a:t>
            </a:r>
          </a:p>
        </p:txBody>
      </p:sp>
      <p:pic>
        <p:nvPicPr>
          <p:cNvPr id="190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8408" y="1329726"/>
            <a:ext cx="9647984" cy="799681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tack: Apache Spark (PySpark) + MySQL + Python…"/>
          <p:cNvSpPr txBox="1"/>
          <p:nvPr>
            <p:ph type="body" idx="1"/>
          </p:nvPr>
        </p:nvSpPr>
        <p:spPr>
          <a:xfrm>
            <a:off x="698499" y="2175678"/>
            <a:ext cx="11607801" cy="6096001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Stack</a:t>
            </a:r>
            <a:r>
              <a:t>: Apache Spark (PySpark) + MySQL + Python</a:t>
            </a:r>
          </a:p>
          <a:p>
            <a:pPr/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</a:rPr>
              <a:t>3 ETL Faze</a:t>
            </a:r>
            <a:r>
              <a:t>:</a:t>
            </a:r>
          </a:p>
          <a:p>
            <a:pPr lvl="1" marL="1066800" indent="-533400">
              <a:buSzPct val="100000"/>
              <a:buAutoNum type="arabicPeriod" startAt="1"/>
            </a:pPr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</a:rPr>
              <a:t>Extract</a:t>
            </a:r>
            <a:r>
              <a:t>: iz MySQL (studio_data relacijska baza) + CSV backup ( 80 + 20 split )</a:t>
            </a:r>
          </a:p>
          <a:p>
            <a:pPr lvl="1" marL="1066800" indent="-533400">
              <a:buSzPct val="100000"/>
              <a:buAutoNum type="arabicPeriod" startAt="1"/>
            </a:pPr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</a:rPr>
              <a:t>Transform</a:t>
            </a:r>
            <a:r>
              <a:t>: pipeline s dimenzijskim transformacijama (zanr_grupa, catchy_karakter, energy_segment, tempo_band...)</a:t>
            </a:r>
          </a:p>
          <a:p>
            <a:pPr lvl="1" marL="1066800" indent="-533400">
              <a:buSzPct val="100000"/>
              <a:buAutoNum type="arabicPeriod" startAt="1"/>
            </a:pPr>
            <a:r>
              <a:rPr b="1">
                <a:solidFill>
                  <a:schemeClr val="accent1">
                    <a:hueOff val="114395"/>
                    <a:lumOff val="-24975"/>
                  </a:schemeClr>
                </a:solidFill>
              </a:rPr>
              <a:t>Load</a:t>
            </a:r>
            <a:r>
              <a:t>: u star schema tablice redom (dimenzije → fact), verifikacija NULL surogatnih ključeva</a:t>
            </a:r>
          </a:p>
        </p:txBody>
      </p:sp>
      <p:sp>
        <p:nvSpPr>
          <p:cNvPr id="193" name="ETL Proc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ETL Proces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op žanrovi po prosječnoj popularnosti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/>
              <a:t>Top žanrovi </a:t>
            </a:r>
            <a:r>
              <a:t>po prosječnoj popularnosti</a:t>
            </a:r>
          </a:p>
          <a:p>
            <a:pPr/>
            <a:r>
              <a:rPr b="1"/>
              <a:t>Usporedba žanr grupa</a:t>
            </a:r>
            <a:r>
              <a:t> (Pop vs Urban/R&amp;B vs Rock/Metal vs Chill/Acoustic)</a:t>
            </a:r>
          </a:p>
          <a:p>
            <a:pPr>
              <a:defRPr b="1"/>
            </a:pPr>
            <a:r>
              <a:t>Duljina pjesme </a:t>
            </a:r>
            <a:r>
              <a:rPr b="0"/>
              <a:t>po omjeru popularnosti</a:t>
            </a:r>
          </a:p>
          <a:p>
            <a:pPr>
              <a:defRPr b="1"/>
            </a:pPr>
            <a:r>
              <a:t>Technical vs Catchy </a:t>
            </a:r>
            <a:r>
              <a:rPr b="0"/>
              <a:t>karakteristike </a:t>
            </a:r>
            <a:endParaRPr b="0"/>
          </a:p>
          <a:p>
            <a:pPr/>
            <a:r>
              <a:rPr b="1"/>
              <a:t>NSFW vs SFW</a:t>
            </a:r>
            <a:r>
              <a:t> pjesme </a:t>
            </a:r>
          </a:p>
          <a:p>
            <a:pPr>
              <a:defRPr b="1" i="1">
                <a:solidFill>
                  <a:schemeClr val="accent1">
                    <a:hueOff val="114395"/>
                    <a:lumOff val="-24975"/>
                  </a:schemeClr>
                </a:solidFill>
              </a:defRPr>
            </a:pPr>
            <a:r>
              <a:t>Ključni nalaz: koje pjesme su najpopularnije i kakve su im karakteristike</a:t>
            </a:r>
          </a:p>
        </p:txBody>
      </p:sp>
      <p:sp>
        <p:nvSpPr>
          <p:cNvPr id="196" name="Žanrovi, specs pjesama I njihova popularnos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Žanrovi, specs pjesama I njihova popularnost</a:t>
            </a:r>
          </a:p>
        </p:txBody>
      </p:sp>
      <p:sp>
        <p:nvSpPr>
          <p:cNvPr id="197" name="Ciljevi analiz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Ciljevi analize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kst predznaka na slajdu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Popularnost žanrova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Popularnost žanrova </a:t>
            </a:r>
          </a:p>
        </p:txBody>
      </p:sp>
      <p:sp>
        <p:nvSpPr>
          <p:cNvPr id="201" name="Rezulatati analiz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Rezulatati analize</a:t>
            </a:r>
          </a:p>
        </p:txBody>
      </p:sp>
      <p:grpSp>
        <p:nvGrpSpPr>
          <p:cNvPr id="204" name="Grupiraj"/>
          <p:cNvGrpSpPr/>
          <p:nvPr/>
        </p:nvGrpSpPr>
        <p:grpSpPr>
          <a:xfrm>
            <a:off x="326553" y="2085559"/>
            <a:ext cx="3871161" cy="2483736"/>
            <a:chOff x="0" y="0"/>
            <a:chExt cx="3871160" cy="2483735"/>
          </a:xfrm>
        </p:grpSpPr>
        <p:sp>
          <p:nvSpPr>
            <p:cNvPr id="202" name="Popularnost žanr grupa"/>
            <p:cNvSpPr/>
            <p:nvPr/>
          </p:nvSpPr>
          <p:spPr>
            <a:xfrm>
              <a:off x="0" y="0"/>
              <a:ext cx="3871161" cy="387070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1800"/>
              </a:lvl1pPr>
            </a:lstStyle>
            <a:p>
              <a:pPr/>
              <a:r>
                <a:t>Popularnost žanr grupa</a:t>
              </a:r>
            </a:p>
          </p:txBody>
        </p:sp>
        <p:pic>
          <p:nvPicPr>
            <p:cNvPr id="203" name="zalijepljen-film.png" descr="zalijepljen-film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88669"/>
              <a:ext cx="3871161" cy="199506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07" name="Grupiraj"/>
          <p:cNvGrpSpPr/>
          <p:nvPr/>
        </p:nvGrpSpPr>
        <p:grpSpPr>
          <a:xfrm>
            <a:off x="7351948" y="2187742"/>
            <a:ext cx="5422901" cy="2279370"/>
            <a:chOff x="0" y="0"/>
            <a:chExt cx="5422900" cy="2279368"/>
          </a:xfrm>
        </p:grpSpPr>
        <p:sp>
          <p:nvSpPr>
            <p:cNvPr id="205" name="SFW vs NSFW"/>
            <p:cNvSpPr/>
            <p:nvPr/>
          </p:nvSpPr>
          <p:spPr>
            <a:xfrm>
              <a:off x="0" y="0"/>
              <a:ext cx="5422901" cy="387070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1800"/>
              </a:lvl1pPr>
            </a:lstStyle>
            <a:p>
              <a:pPr/>
              <a:r>
                <a:t>SFW vs NSFW</a:t>
              </a:r>
            </a:p>
          </p:txBody>
        </p:sp>
        <p:pic>
          <p:nvPicPr>
            <p:cNvPr id="206" name="zalijepljen-film.png" descr="zalijepljen-film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488668"/>
              <a:ext cx="5422900" cy="17907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10" name="Grupiraj"/>
          <p:cNvGrpSpPr/>
          <p:nvPr/>
        </p:nvGrpSpPr>
        <p:grpSpPr>
          <a:xfrm>
            <a:off x="3279013" y="4570075"/>
            <a:ext cx="6446774" cy="4793621"/>
            <a:chOff x="0" y="0"/>
            <a:chExt cx="6446772" cy="4793620"/>
          </a:xfrm>
        </p:grpSpPr>
        <p:sp>
          <p:nvSpPr>
            <p:cNvPr id="208" name="TOP 15 Najpopularnijih žanrova"/>
            <p:cNvSpPr/>
            <p:nvPr/>
          </p:nvSpPr>
          <p:spPr>
            <a:xfrm>
              <a:off x="0" y="0"/>
              <a:ext cx="6446773" cy="387070"/>
            </a:xfrm>
            <a:prstGeom prst="roundRect">
              <a:avLst>
                <a:gd name="adj" fmla="val 0"/>
              </a:avLst>
            </a:prstGeom>
            <a:solidFill>
              <a:srgbClr val="000000">
                <a:alpha val="0"/>
              </a:srgbClr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noAutofit/>
            </a:bodyPr>
            <a:lstStyle>
              <a:lvl1pPr algn="ctr" defTabSz="587022">
                <a:lnSpc>
                  <a:spcPct val="100000"/>
                </a:lnSpc>
                <a:spcBef>
                  <a:spcPts val="0"/>
                </a:spcBef>
                <a:defRPr b="1" sz="1800"/>
              </a:lvl1pPr>
            </a:lstStyle>
            <a:p>
              <a:pPr/>
              <a:r>
                <a:t>TOP 15 Najpopularnijih žanrova</a:t>
              </a:r>
            </a:p>
          </p:txBody>
        </p:sp>
        <p:pic>
          <p:nvPicPr>
            <p:cNvPr id="209" name="zalijepljen-film.png" descr="zalijepljen-film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488668"/>
              <a:ext cx="6446773" cy="43049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kst predznaka na slajdu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3" name="Audio značajke i popularnost 1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Audio značajke i popularnost 1</a:t>
            </a:r>
          </a:p>
        </p:txBody>
      </p:sp>
      <p:sp>
        <p:nvSpPr>
          <p:cNvPr id="214" name="Rezulatati analiz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Rezulatati analize</a:t>
            </a:r>
          </a:p>
        </p:txBody>
      </p:sp>
      <p:pic>
        <p:nvPicPr>
          <p:cNvPr id="215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7035" y="6146621"/>
            <a:ext cx="10655301" cy="3213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zalijepljen-film.png" descr="zalijepljen-fil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07002" y="2129608"/>
            <a:ext cx="9390796" cy="36852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kst predznaka na slajdu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Audio značajke i popularnost 2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Audio značajke i popularnost 2</a:t>
            </a:r>
          </a:p>
        </p:txBody>
      </p:sp>
      <p:sp>
        <p:nvSpPr>
          <p:cNvPr id="220" name="Rezulatati analiz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Rezulatati analize</a:t>
            </a:r>
          </a:p>
        </p:txBody>
      </p:sp>
      <p:pic>
        <p:nvPicPr>
          <p:cNvPr id="221" name="zalijepljen-film.png" descr="zalijepljen-film.png"/>
          <p:cNvPicPr>
            <a:picLocks noChangeAspect="1"/>
          </p:cNvPicPr>
          <p:nvPr/>
        </p:nvPicPr>
        <p:blipFill>
          <a:blip r:embed="rId2">
            <a:extLst/>
          </a:blip>
          <a:srcRect l="1427" t="1427" r="1427" b="1427"/>
          <a:stretch>
            <a:fillRect/>
          </a:stretch>
        </p:blipFill>
        <p:spPr>
          <a:xfrm>
            <a:off x="574356" y="3065468"/>
            <a:ext cx="5816601" cy="5092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zalijepljen-film.png" descr="zalijepljen-fil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33350" y="3065468"/>
            <a:ext cx="4869567" cy="5092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inglovi su popularniji od albuma…"/>
          <p:cNvSpPr txBox="1"/>
          <p:nvPr>
            <p:ph type="body" idx="1"/>
          </p:nvPr>
        </p:nvSpPr>
        <p:spPr>
          <a:xfrm>
            <a:off x="698499" y="2240963"/>
            <a:ext cx="11607801" cy="6096001"/>
          </a:xfrm>
          <a:prstGeom prst="rect">
            <a:avLst/>
          </a:prstGeom>
        </p:spPr>
        <p:txBody>
          <a:bodyPr/>
          <a:lstStyle/>
          <a:p>
            <a:pPr marL="320039" indent="-320039" defTabSz="1456501">
              <a:spcBef>
                <a:spcPts val="2600"/>
              </a:spcBef>
              <a:defRPr sz="2520"/>
            </a:pPr>
            <a:r>
              <a:rPr b="1"/>
              <a:t>Singlovi su popularniji</a:t>
            </a:r>
            <a:r>
              <a:t> od albuma</a:t>
            </a:r>
          </a:p>
          <a:p>
            <a:pPr marL="320039" indent="-320039" defTabSz="1456501">
              <a:spcBef>
                <a:spcPts val="2600"/>
              </a:spcBef>
              <a:defRPr sz="2520"/>
            </a:pPr>
            <a:r>
              <a:rPr b="1"/>
              <a:t>NSWF ( 18+ ) pjesme jesu popularnije</a:t>
            </a:r>
            <a:r>
              <a:t> ali razlika nije velika</a:t>
            </a:r>
          </a:p>
          <a:p>
            <a:pPr marL="320039" indent="-320039" defTabSz="1456501">
              <a:spcBef>
                <a:spcPts val="2600"/>
              </a:spcBef>
              <a:defRPr sz="2520"/>
            </a:pPr>
            <a:r>
              <a:rPr b="1"/>
              <a:t>Izbjegavati “mirne”</a:t>
            </a:r>
            <a:r>
              <a:t> pjesme</a:t>
            </a:r>
          </a:p>
          <a:p>
            <a:pPr marL="320039" indent="-320039" defTabSz="1456501">
              <a:spcBef>
                <a:spcPts val="2600"/>
              </a:spcBef>
              <a:defRPr sz="2520"/>
            </a:pPr>
            <a:r>
              <a:rPr b="1"/>
              <a:t>Mali</a:t>
            </a:r>
            <a:r>
              <a:t> </a:t>
            </a:r>
            <a:r>
              <a:rPr b="1"/>
              <a:t>danceability ==  mala popularnost!</a:t>
            </a:r>
          </a:p>
          <a:p>
            <a:pPr marL="320039" indent="-320039" defTabSz="1456501">
              <a:spcBef>
                <a:spcPts val="2600"/>
              </a:spcBef>
              <a:defRPr sz="2520"/>
            </a:pPr>
            <a:r>
              <a:rPr b="1"/>
              <a:t>Pop je generalno najbolji izbor</a:t>
            </a:r>
            <a:r>
              <a:t> zbog:</a:t>
            </a:r>
          </a:p>
          <a:p>
            <a:pPr lvl="1" marL="896111" indent="-448055" defTabSz="1456501">
              <a:spcBef>
                <a:spcPts val="2600"/>
              </a:spcBef>
              <a:buSzPct val="100000"/>
              <a:buAutoNum type="arabicPeriod" startAt="1"/>
              <a:defRPr sz="2520"/>
            </a:pPr>
            <a:r>
              <a:t>Najboljeg </a:t>
            </a:r>
            <a:r>
              <a:rPr b="1"/>
              <a:t>omjera popularnosti i danceability-a</a:t>
            </a:r>
            <a:r>
              <a:t> ( klubovi )</a:t>
            </a:r>
          </a:p>
          <a:p>
            <a:pPr lvl="1" marL="896111" indent="-448055" defTabSz="1456501">
              <a:spcBef>
                <a:spcPts val="2600"/>
              </a:spcBef>
              <a:buSzPct val="100000"/>
              <a:buAutoNum type="arabicPeriod" startAt="1"/>
              <a:defRPr sz="2520"/>
            </a:pPr>
            <a:r>
              <a:rPr b="1"/>
              <a:t>Prosječno trajanje</a:t>
            </a:r>
            <a:r>
              <a:t> pjesme</a:t>
            </a:r>
          </a:p>
          <a:p>
            <a:pPr lvl="1" marL="896111" indent="-448055" defTabSz="1456501">
              <a:spcBef>
                <a:spcPts val="2600"/>
              </a:spcBef>
              <a:buSzPct val="100000"/>
              <a:buAutoNum type="arabicPeriod" startAt="1"/>
              <a:defRPr sz="2520"/>
            </a:pPr>
            <a:r>
              <a:rPr b="1"/>
              <a:t>Najsigurniji izbor</a:t>
            </a:r>
            <a:r>
              <a:t> </a:t>
            </a:r>
          </a:p>
          <a:p>
            <a:pPr lvl="1" marL="896111" indent="-448055" defTabSz="1456501">
              <a:spcBef>
                <a:spcPts val="2600"/>
              </a:spcBef>
              <a:buSzPct val="100000"/>
              <a:buAutoNum type="arabicPeriod" startAt="1"/>
              <a:defRPr sz="2520"/>
            </a:pPr>
            <a:r>
              <a:rPr b="1"/>
              <a:t>Market nije prepravljen </a:t>
            </a:r>
            <a:r>
              <a:t>( samo 7.8% pjesama od 90 000 su Pop )</a:t>
            </a:r>
          </a:p>
        </p:txBody>
      </p:sp>
      <p:sp>
        <p:nvSpPr>
          <p:cNvPr id="225" name="Preopruke za studi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16590">
              <a:defRPr spc="-118" sz="5940"/>
            </a:lvl1pPr>
          </a:lstStyle>
          <a:p>
            <a:pPr/>
            <a:r>
              <a:t>Preopruke za studio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Hvala na pažnji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Hvala na pažnji.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1733930" rtl="0" fontAlgn="auto" latinLnBrk="0" hangingPunct="0">
          <a:lnSpc>
            <a:spcPct val="90000"/>
          </a:lnSpc>
          <a:spcBef>
            <a:spcPts val="3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